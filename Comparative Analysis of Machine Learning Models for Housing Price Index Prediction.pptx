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4" r:id="rId5"/>
    <p:sldId id="277" r:id="rId6"/>
    <p:sldId id="259" r:id="rId7"/>
    <p:sldId id="266" r:id="rId8"/>
    <p:sldId id="276" r:id="rId9"/>
    <p:sldId id="268" r:id="rId10"/>
    <p:sldId id="270" r:id="rId11"/>
    <p:sldId id="272" r:id="rId12"/>
    <p:sldId id="271" r:id="rId13"/>
    <p:sldId id="273" r:id="rId14"/>
    <p:sldId id="275" r:id="rId15"/>
    <p:sldId id="260" r:id="rId16"/>
    <p:sldId id="278" r:id="rId17"/>
    <p:sldId id="262" r:id="rId18"/>
    <p:sldId id="261" r:id="rId19"/>
    <p:sldId id="269" r:id="rId20"/>
    <p:sldId id="263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6"/>
    <p:restoredTop sz="92252" autoAdjust="0"/>
  </p:normalViewPr>
  <p:slideViewPr>
    <p:cSldViewPr snapToGrid="0" snapToObjects="1">
      <p:cViewPr varScale="1">
        <p:scale>
          <a:sx n="102" d="100"/>
          <a:sy n="102" d="100"/>
        </p:scale>
        <p:origin x="20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7B0CE-10D9-471F-A69A-00EF2E3D7C9C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6718B082-8778-4B79-AA0E-2B19CE2A97CF}">
      <dgm:prSet/>
      <dgm:spPr/>
      <dgm:t>
        <a:bodyPr/>
        <a:lstStyle/>
        <a:p>
          <a:r>
            <a:rPr lang="en-US" b="0" i="0" dirty="0"/>
            <a:t>Incorporate macroeconomic data (employment, interest rates).</a:t>
          </a:r>
          <a:endParaRPr lang="en-US" dirty="0"/>
        </a:p>
      </dgm:t>
    </dgm:pt>
    <dgm:pt modelId="{5D9C2863-0317-47A0-A5C1-280D073DB698}" type="parTrans" cxnId="{211AD588-7888-4875-BCCA-3D98AB068929}">
      <dgm:prSet/>
      <dgm:spPr/>
      <dgm:t>
        <a:bodyPr/>
        <a:lstStyle/>
        <a:p>
          <a:endParaRPr lang="en-US"/>
        </a:p>
      </dgm:t>
    </dgm:pt>
    <dgm:pt modelId="{BB819513-763C-4606-8AFD-DE7C302AC465}" type="sibTrans" cxnId="{211AD588-7888-4875-BCCA-3D98AB068929}">
      <dgm:prSet/>
      <dgm:spPr/>
      <dgm:t>
        <a:bodyPr/>
        <a:lstStyle/>
        <a:p>
          <a:endParaRPr lang="en-US"/>
        </a:p>
      </dgm:t>
    </dgm:pt>
    <dgm:pt modelId="{5D18F65C-CC79-48A2-8C8D-58E0969C2677}">
      <dgm:prSet/>
      <dgm:spPr/>
      <dgm:t>
        <a:bodyPr/>
        <a:lstStyle/>
        <a:p>
          <a:r>
            <a:rPr lang="en-US" b="0" i="0" dirty="0"/>
            <a:t>Test spatiotemporal models (LSTMs, geographically weighted regression).</a:t>
          </a:r>
          <a:endParaRPr lang="en-US" dirty="0"/>
        </a:p>
      </dgm:t>
    </dgm:pt>
    <dgm:pt modelId="{9111AE07-C86F-4911-A6BF-1F0A0A96D874}" type="parTrans" cxnId="{E8581C64-8E83-4857-8477-3721B3567174}">
      <dgm:prSet/>
      <dgm:spPr/>
      <dgm:t>
        <a:bodyPr/>
        <a:lstStyle/>
        <a:p>
          <a:endParaRPr lang="en-US"/>
        </a:p>
      </dgm:t>
    </dgm:pt>
    <dgm:pt modelId="{EE7A8C6D-B8D8-4E77-BDCA-C8FDF7FA6FC4}" type="sibTrans" cxnId="{E8581C64-8E83-4857-8477-3721B3567174}">
      <dgm:prSet/>
      <dgm:spPr/>
      <dgm:t>
        <a:bodyPr/>
        <a:lstStyle/>
        <a:p>
          <a:endParaRPr lang="en-US"/>
        </a:p>
      </dgm:t>
    </dgm:pt>
    <dgm:pt modelId="{EC876870-3CEF-45B6-A0EB-3E42BCD7DBF4}">
      <dgm:prSet/>
      <dgm:spPr/>
      <dgm:t>
        <a:bodyPr/>
        <a:lstStyle/>
        <a:p>
          <a:r>
            <a:rPr lang="en-US" b="0" i="0" dirty="0"/>
            <a:t>Expand explainable AI techniques.</a:t>
          </a:r>
          <a:endParaRPr lang="en-US" dirty="0"/>
        </a:p>
      </dgm:t>
    </dgm:pt>
    <dgm:pt modelId="{1843EED3-4FCF-4A79-9D60-C99784EBBD73}" type="parTrans" cxnId="{E3C737D9-8056-4A0C-BC92-ED68AFEBB44F}">
      <dgm:prSet/>
      <dgm:spPr/>
      <dgm:t>
        <a:bodyPr/>
        <a:lstStyle/>
        <a:p>
          <a:endParaRPr lang="en-US"/>
        </a:p>
      </dgm:t>
    </dgm:pt>
    <dgm:pt modelId="{95E9DBB0-8D10-40E6-8232-858A7F7ED231}" type="sibTrans" cxnId="{E3C737D9-8056-4A0C-BC92-ED68AFEBB44F}">
      <dgm:prSet/>
      <dgm:spPr/>
      <dgm:t>
        <a:bodyPr/>
        <a:lstStyle/>
        <a:p>
          <a:endParaRPr lang="en-US"/>
        </a:p>
      </dgm:t>
    </dgm:pt>
    <dgm:pt modelId="{79351DDA-B279-4405-BCAD-3488DF289D8A}" type="pres">
      <dgm:prSet presAssocID="{D3D7B0CE-10D9-471F-A69A-00EF2E3D7C9C}" presName="linear" presStyleCnt="0">
        <dgm:presLayoutVars>
          <dgm:animLvl val="lvl"/>
          <dgm:resizeHandles val="exact"/>
        </dgm:presLayoutVars>
      </dgm:prSet>
      <dgm:spPr/>
    </dgm:pt>
    <dgm:pt modelId="{A47EB566-1206-4A69-A36F-10CCAAF5ACCE}" type="pres">
      <dgm:prSet presAssocID="{6718B082-8778-4B79-AA0E-2B19CE2A97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E409F04-3B17-497F-9E34-C3C67B004177}" type="pres">
      <dgm:prSet presAssocID="{BB819513-763C-4606-8AFD-DE7C302AC465}" presName="spacer" presStyleCnt="0"/>
      <dgm:spPr/>
    </dgm:pt>
    <dgm:pt modelId="{6D37E138-D016-4E65-B672-5B3D6D7E7E36}" type="pres">
      <dgm:prSet presAssocID="{5D18F65C-CC79-48A2-8C8D-58E0969C26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966594-1BFC-42F1-A495-A2E3E4450230}" type="pres">
      <dgm:prSet presAssocID="{EE7A8C6D-B8D8-4E77-BDCA-C8FDF7FA6FC4}" presName="spacer" presStyleCnt="0"/>
      <dgm:spPr/>
    </dgm:pt>
    <dgm:pt modelId="{39C5507A-EF97-4D18-9693-23E995BE01A0}" type="pres">
      <dgm:prSet presAssocID="{EC876870-3CEF-45B6-A0EB-3E42BCD7DB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2DAEA22-713D-401E-9873-AB2EC1BD8A97}" type="presOf" srcId="{D3D7B0CE-10D9-471F-A69A-00EF2E3D7C9C}" destId="{79351DDA-B279-4405-BCAD-3488DF289D8A}" srcOrd="0" destOrd="0" presId="urn:microsoft.com/office/officeart/2005/8/layout/vList2"/>
    <dgm:cxn modelId="{2FF22B30-F8D2-42BB-9F1F-68372F8C9349}" type="presOf" srcId="{EC876870-3CEF-45B6-A0EB-3E42BCD7DBF4}" destId="{39C5507A-EF97-4D18-9693-23E995BE01A0}" srcOrd="0" destOrd="0" presId="urn:microsoft.com/office/officeart/2005/8/layout/vList2"/>
    <dgm:cxn modelId="{FA2B7A33-A716-45EC-80E1-3A1EB6B19EDC}" type="presOf" srcId="{5D18F65C-CC79-48A2-8C8D-58E0969C2677}" destId="{6D37E138-D016-4E65-B672-5B3D6D7E7E36}" srcOrd="0" destOrd="0" presId="urn:microsoft.com/office/officeart/2005/8/layout/vList2"/>
    <dgm:cxn modelId="{E8581C64-8E83-4857-8477-3721B3567174}" srcId="{D3D7B0CE-10D9-471F-A69A-00EF2E3D7C9C}" destId="{5D18F65C-CC79-48A2-8C8D-58E0969C2677}" srcOrd="1" destOrd="0" parTransId="{9111AE07-C86F-4911-A6BF-1F0A0A96D874}" sibTransId="{EE7A8C6D-B8D8-4E77-BDCA-C8FDF7FA6FC4}"/>
    <dgm:cxn modelId="{211AD588-7888-4875-BCCA-3D98AB068929}" srcId="{D3D7B0CE-10D9-471F-A69A-00EF2E3D7C9C}" destId="{6718B082-8778-4B79-AA0E-2B19CE2A97CF}" srcOrd="0" destOrd="0" parTransId="{5D9C2863-0317-47A0-A5C1-280D073DB698}" sibTransId="{BB819513-763C-4606-8AFD-DE7C302AC465}"/>
    <dgm:cxn modelId="{E3C737D9-8056-4A0C-BC92-ED68AFEBB44F}" srcId="{D3D7B0CE-10D9-471F-A69A-00EF2E3D7C9C}" destId="{EC876870-3CEF-45B6-A0EB-3E42BCD7DBF4}" srcOrd="2" destOrd="0" parTransId="{1843EED3-4FCF-4A79-9D60-C99784EBBD73}" sibTransId="{95E9DBB0-8D10-40E6-8232-858A7F7ED231}"/>
    <dgm:cxn modelId="{D8A21BDC-7927-4C69-A63A-4BE6EA045FFC}" type="presOf" srcId="{6718B082-8778-4B79-AA0E-2B19CE2A97CF}" destId="{A47EB566-1206-4A69-A36F-10CCAAF5ACCE}" srcOrd="0" destOrd="0" presId="urn:microsoft.com/office/officeart/2005/8/layout/vList2"/>
    <dgm:cxn modelId="{01B7C38A-6A60-483C-AFCA-76790D64834C}" type="presParOf" srcId="{79351DDA-B279-4405-BCAD-3488DF289D8A}" destId="{A47EB566-1206-4A69-A36F-10CCAAF5ACCE}" srcOrd="0" destOrd="0" presId="urn:microsoft.com/office/officeart/2005/8/layout/vList2"/>
    <dgm:cxn modelId="{08DDEAD4-288A-451C-81A4-4B4F8B8BEBA8}" type="presParOf" srcId="{79351DDA-B279-4405-BCAD-3488DF289D8A}" destId="{7E409F04-3B17-497F-9E34-C3C67B004177}" srcOrd="1" destOrd="0" presId="urn:microsoft.com/office/officeart/2005/8/layout/vList2"/>
    <dgm:cxn modelId="{7AFE08BA-8F65-44C4-80C5-B6D0960B65F5}" type="presParOf" srcId="{79351DDA-B279-4405-BCAD-3488DF289D8A}" destId="{6D37E138-D016-4E65-B672-5B3D6D7E7E36}" srcOrd="2" destOrd="0" presId="urn:microsoft.com/office/officeart/2005/8/layout/vList2"/>
    <dgm:cxn modelId="{D95B85C9-6EF5-4AE5-9FAB-9FF1A25863CA}" type="presParOf" srcId="{79351DDA-B279-4405-BCAD-3488DF289D8A}" destId="{C8966594-1BFC-42F1-A495-A2E3E4450230}" srcOrd="3" destOrd="0" presId="urn:microsoft.com/office/officeart/2005/8/layout/vList2"/>
    <dgm:cxn modelId="{AE8645CD-9552-4458-9284-D62569C5046A}" type="presParOf" srcId="{79351DDA-B279-4405-BCAD-3488DF289D8A}" destId="{39C5507A-EF97-4D18-9693-23E995BE01A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EB566-1206-4A69-A36F-10CCAAF5ACCE}">
      <dsp:nvSpPr>
        <dsp:cNvPr id="0" name=""/>
        <dsp:cNvSpPr/>
      </dsp:nvSpPr>
      <dsp:spPr>
        <a:xfrm>
          <a:off x="0" y="47844"/>
          <a:ext cx="7886700" cy="13513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Incorporate macroeconomic data (employment, interest rates).</a:t>
          </a:r>
          <a:endParaRPr lang="en-US" sz="3500" kern="1200" dirty="0"/>
        </a:p>
      </dsp:txBody>
      <dsp:txXfrm>
        <a:off x="65967" y="113811"/>
        <a:ext cx="7754766" cy="1219415"/>
      </dsp:txXfrm>
    </dsp:sp>
    <dsp:sp modelId="{6D37E138-D016-4E65-B672-5B3D6D7E7E36}">
      <dsp:nvSpPr>
        <dsp:cNvPr id="0" name=""/>
        <dsp:cNvSpPr/>
      </dsp:nvSpPr>
      <dsp:spPr>
        <a:xfrm>
          <a:off x="0" y="1499994"/>
          <a:ext cx="7886700" cy="1351349"/>
        </a:xfrm>
        <a:prstGeom prst="roundRect">
          <a:avLst/>
        </a:prstGeom>
        <a:solidFill>
          <a:schemeClr val="accent4">
            <a:hueOff val="4355553"/>
            <a:satOff val="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Test spatiotemporal models (LSTMs, geographically weighted regression).</a:t>
          </a:r>
          <a:endParaRPr lang="en-US" sz="3500" kern="1200" dirty="0"/>
        </a:p>
      </dsp:txBody>
      <dsp:txXfrm>
        <a:off x="65967" y="1565961"/>
        <a:ext cx="7754766" cy="1219415"/>
      </dsp:txXfrm>
    </dsp:sp>
    <dsp:sp modelId="{39C5507A-EF97-4D18-9693-23E995BE01A0}">
      <dsp:nvSpPr>
        <dsp:cNvPr id="0" name=""/>
        <dsp:cNvSpPr/>
      </dsp:nvSpPr>
      <dsp:spPr>
        <a:xfrm>
          <a:off x="0" y="2952143"/>
          <a:ext cx="7886700" cy="1351349"/>
        </a:xfrm>
        <a:prstGeom prst="roundRect">
          <a:avLst/>
        </a:prstGeom>
        <a:solidFill>
          <a:schemeClr val="accent4">
            <a:hueOff val="8711106"/>
            <a:satOff val="0"/>
            <a:lumOff val="-2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dirty="0"/>
            <a:t>Expand explainable AI techniques.</a:t>
          </a:r>
          <a:endParaRPr lang="en-US" sz="3500" kern="1200" dirty="0"/>
        </a:p>
      </dsp:txBody>
      <dsp:txXfrm>
        <a:off x="65967" y="3018110"/>
        <a:ext cx="7754766" cy="1219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16F92-46A3-4C2F-8C10-72A791DD0986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C6EFE-9287-42A2-91BA-14570A20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0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fkGroteskNeue"/>
              </a:rPr>
              <a:t>Short-term analysis: To observe true month-to-month 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C6EFE-9287-42A2-91BA-14570A204B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03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R^2 gives the explanatory power of the model</a:t>
            </a:r>
          </a:p>
          <a:p>
            <a:r>
              <a:rPr lang="en-US" dirty="0"/>
              <a:t>MSE tells us the accuracy of the predictions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C6EFE-9287-42A2-91BA-14570A204B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5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52D2E1C-9D8B-0742-97BF-51545C9702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A6BC8CC4-EE74-3645-88EF-C41CBB35D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949C515-2A63-E847-9DAB-A5268D846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42827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3CECA701-B4E9-7A48-A404-CF6B6C4E1E5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4651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hfa.gov/data/hpi/datasets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jjpenaloza1@outlook.com" TargetMode="External"/><Relationship Id="rId2" Type="http://schemas.openxmlformats.org/officeDocument/2006/relationships/hyperlink" Target="mailto:jpenaloza@bellarmine.ed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Comparative Analysis of Machine Learning Models for Housing Price Index 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Jonathan J. Penaloza Rumie</a:t>
            </a:r>
          </a:p>
          <a:p>
            <a:r>
              <a:rPr lang="en-US" dirty="0"/>
              <a:t>Advisor- Dr. Sayani Sarkar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41B7-01DA-6A42-8344-CD743409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Exploratory Data Analysis</a:t>
            </a:r>
          </a:p>
          <a:p>
            <a:r>
              <a:rPr lang="en-US" dirty="0"/>
              <a:t>Methods / Modeling</a:t>
            </a:r>
          </a:p>
          <a:p>
            <a:r>
              <a:rPr lang="en-US" dirty="0"/>
              <a:t>Preliminary Results</a:t>
            </a:r>
          </a:p>
          <a:p>
            <a:r>
              <a:rPr lang="en-US" dirty="0"/>
              <a:t>Final Results</a:t>
            </a:r>
          </a:p>
          <a:p>
            <a:r>
              <a:rPr lang="en-US" dirty="0"/>
              <a:t>Conclusion/Future Work</a:t>
            </a:r>
          </a:p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8E54-BBBE-9B33-27A8-80651E10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86C38-5521-842C-E8A5-D81001118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Develop accurate ML models to </a:t>
            </a:r>
            <a:r>
              <a:rPr lang="en-US" b="1" i="0" dirty="0">
                <a:effectLst/>
                <a:latin typeface="+mj-lt"/>
              </a:rPr>
              <a:t>forecast housing price trends</a:t>
            </a:r>
            <a:r>
              <a:rPr lang="en-US" b="0" i="0" dirty="0">
                <a:effectLst/>
                <a:latin typeface="+mj-lt"/>
              </a:rPr>
              <a:t>, identifying </a:t>
            </a:r>
            <a:r>
              <a:rPr lang="en-US" b="1" i="0" dirty="0">
                <a:effectLst/>
                <a:latin typeface="+mj-lt"/>
              </a:rPr>
              <a:t>key drivers of market dynamics</a:t>
            </a:r>
            <a:r>
              <a:rPr lang="en-US" b="0" i="0" dirty="0">
                <a:effectLst/>
                <a:latin typeface="+mj-lt"/>
              </a:rPr>
              <a:t>.</a:t>
            </a:r>
          </a:p>
          <a:p>
            <a:r>
              <a:rPr lang="en-US" b="0" i="0" dirty="0">
                <a:effectLst/>
                <a:latin typeface="+mj-lt"/>
              </a:rPr>
              <a:t>Federal Housing Finance Agency (FHFA) HPI dataset.</a:t>
            </a:r>
          </a:p>
          <a:p>
            <a:r>
              <a:rPr lang="en-US" dirty="0">
                <a:latin typeface="+mj-lt"/>
              </a:rPr>
              <a:t>Features: </a:t>
            </a:r>
            <a:endParaRPr lang="en-US" b="0" i="0" dirty="0">
              <a:effectLst/>
              <a:latin typeface="+mj-lt"/>
            </a:endParaRPr>
          </a:p>
          <a:p>
            <a:pPr lvl="1"/>
            <a:r>
              <a:rPr lang="en-US" b="0" i="0" dirty="0">
                <a:effectLst/>
                <a:latin typeface="+mj-lt"/>
              </a:rPr>
              <a:t>Temporal (year, period)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Geographic (</a:t>
            </a:r>
            <a:r>
              <a:rPr lang="en-US" b="0" i="0" dirty="0" err="1">
                <a:effectLst/>
                <a:latin typeface="+mj-lt"/>
              </a:rPr>
              <a:t>place_name</a:t>
            </a:r>
            <a:r>
              <a:rPr lang="en-US" b="0" i="0" dirty="0">
                <a:effectLst/>
                <a:latin typeface="+mj-lt"/>
              </a:rPr>
              <a:t>, region, </a:t>
            </a:r>
            <a:r>
              <a:rPr lang="en-US" b="0" i="0" dirty="0" err="1">
                <a:effectLst/>
                <a:latin typeface="+mj-lt"/>
              </a:rPr>
              <a:t>place_id</a:t>
            </a:r>
            <a:r>
              <a:rPr lang="en-US" b="0" i="0" dirty="0">
                <a:effectLst/>
                <a:latin typeface="+mj-lt"/>
              </a:rPr>
              <a:t>)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Methodological (</a:t>
            </a:r>
            <a:r>
              <a:rPr lang="en-US" b="0" i="0" dirty="0" err="1">
                <a:effectLst/>
                <a:latin typeface="+mj-lt"/>
              </a:rPr>
              <a:t>hpi_type</a:t>
            </a:r>
            <a:r>
              <a:rPr lang="en-US" b="0" i="0" dirty="0">
                <a:effectLst/>
                <a:latin typeface="+mj-lt"/>
              </a:rPr>
              <a:t>, </a:t>
            </a:r>
            <a:r>
              <a:rPr lang="en-US" b="0" i="0" dirty="0" err="1">
                <a:effectLst/>
                <a:latin typeface="+mj-lt"/>
              </a:rPr>
              <a:t>hpi_flavor</a:t>
            </a:r>
            <a:r>
              <a:rPr lang="en-US" b="0" i="0" dirty="0"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060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5813-2B4E-6883-8131-6F066B6F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Index NSA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FDFC6-5F42-AE98-6344-1EAC7058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Measures </a:t>
            </a:r>
            <a:r>
              <a:rPr lang="en-US" b="1" i="0" dirty="0">
                <a:effectLst/>
                <a:latin typeface="+mj-lt"/>
              </a:rPr>
              <a:t>raw data </a:t>
            </a:r>
            <a:r>
              <a:rPr lang="en-US" b="0" i="0" dirty="0">
                <a:effectLst/>
                <a:latin typeface="+mj-lt"/>
              </a:rPr>
              <a:t>without adjusting for predictable seasonal patterns (e.g., weather, holidays, school calendars).</a:t>
            </a:r>
          </a:p>
          <a:p>
            <a:r>
              <a:rPr lang="en-US" dirty="0">
                <a:latin typeface="+mj-lt"/>
              </a:rPr>
              <a:t>Examples: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Housing Price Index (HPI) NSA: Reflects actual</a:t>
            </a:r>
            <a:r>
              <a:rPr lang="en-US" b="1" i="0" dirty="0">
                <a:effectLst/>
                <a:latin typeface="+mj-lt"/>
              </a:rPr>
              <a:t> monthly prices</a:t>
            </a:r>
            <a:r>
              <a:rPr lang="en-US" b="0" i="0" dirty="0">
                <a:effectLst/>
                <a:latin typeface="+mj-lt"/>
              </a:rPr>
              <a:t>, including seasonal spikes (e.g., higher demand in spring).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Consumer Price Index (CPI) NSA: Shows </a:t>
            </a:r>
            <a:r>
              <a:rPr lang="en-US" b="1" i="0" dirty="0">
                <a:effectLst/>
                <a:latin typeface="+mj-lt"/>
              </a:rPr>
              <a:t>inflation </a:t>
            </a:r>
            <a:r>
              <a:rPr lang="en-US" b="0" i="0" dirty="0">
                <a:effectLst/>
                <a:latin typeface="+mj-lt"/>
              </a:rPr>
              <a:t>changes including holiday-driven price hikes (e.g., December retail surges).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Employment Index NSA: Reports </a:t>
            </a:r>
            <a:r>
              <a:rPr lang="en-US" b="1" i="0" dirty="0">
                <a:effectLst/>
                <a:latin typeface="+mj-lt"/>
              </a:rPr>
              <a:t>job numbers </a:t>
            </a:r>
            <a:r>
              <a:rPr lang="en-US" b="0" i="0" dirty="0">
                <a:effectLst/>
                <a:latin typeface="+mj-lt"/>
              </a:rPr>
              <a:t>with seasonal hiring spikes (e.g., summer tourism jobs).</a:t>
            </a:r>
          </a:p>
        </p:txBody>
      </p:sp>
    </p:spTree>
    <p:extLst>
      <p:ext uri="{BB962C8B-B14F-4D97-AF65-F5344CB8AC3E}">
        <p14:creationId xmlns:p14="http://schemas.microsoft.com/office/powerpoint/2010/main" val="343427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3A0E-B69F-5EFB-70A7-A923EE29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D242-9410-9E6E-B12D-8D4FC530F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project I had to eliminate a lot of rows that were not necessary or were just making up space</a:t>
            </a:r>
          </a:p>
          <a:p>
            <a:endParaRPr lang="en-US" dirty="0"/>
          </a:p>
          <a:p>
            <a:r>
              <a:rPr lang="en-US" dirty="0"/>
              <a:t>Index SA was not as concurrent as Index NSA </a:t>
            </a:r>
          </a:p>
          <a:p>
            <a:endParaRPr lang="en-US" dirty="0"/>
          </a:p>
          <a:p>
            <a:r>
              <a:rPr lang="en-US" dirty="0"/>
              <a:t>The data was very specific with the addresses of the houses sold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3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AEC8-2F17-5EC1-8F9F-945DB381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E28C0-8552-7009-9B76-88FB3912C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457" y="1357635"/>
            <a:ext cx="6625086" cy="4979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573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C27E-3CFC-4362-9AE4-483D5D1D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Index NSA by Region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E059D-83A5-E420-D554-512239D20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3" y="1690691"/>
            <a:ext cx="7698373" cy="418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9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itle 1">
            <a:extLst>
              <a:ext uri="{FF2B5EF4-FFF2-40B4-BE49-F238E27FC236}">
                <a16:creationId xmlns:a16="http://schemas.microsoft.com/office/drawing/2014/main" id="{21C0710D-8D59-FB19-F7ED-7DDEF2C0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/>
          <a:lstStyle/>
          <a:p>
            <a:r>
              <a:rPr lang="en-US" dirty="0"/>
              <a:t>Distribution of Index NSA by Region 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96D4625-9042-CDC5-D79D-066181B42D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3902" y="1825625"/>
            <a:ext cx="6216196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39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2299-60D4-50DA-765B-ADA7B25B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Feature Importance</a:t>
            </a:r>
          </a:p>
        </p:txBody>
      </p:sp>
      <p:pic>
        <p:nvPicPr>
          <p:cNvPr id="4" name="Picture 3" descr="A graph with blue bars&#10;&#10;AI-generated content may be incorrect.">
            <a:extLst>
              <a:ext uri="{FF2B5EF4-FFF2-40B4-BE49-F238E27FC236}">
                <a16:creationId xmlns:a16="http://schemas.microsoft.com/office/drawing/2014/main" id="{203A915D-735B-B53C-778A-C05E16988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1345722"/>
            <a:ext cx="7886700" cy="48312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756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0192-2022-5F2E-4CD1-CE759E88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and Regional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ADC97-D26F-E7AC-1F84-98C662B8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31" y="1460252"/>
            <a:ext cx="5436124" cy="4845307"/>
          </a:xfrm>
          <a:prstGeom prst="rect">
            <a:avLst/>
          </a:prstGeom>
        </p:spPr>
      </p:pic>
      <p:pic>
        <p:nvPicPr>
          <p:cNvPr id="5" name="Picture 4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5F541887-6AC6-0F30-114D-BC5F9B4DE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60" y="1460252"/>
            <a:ext cx="5886295" cy="47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3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0AC1-C970-9885-7C22-D30E97CD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Trend of index NSA over time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C842EC-A4AB-8DBF-7ECC-F7E6309A3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" r="-1" b="-1"/>
          <a:stretch/>
        </p:blipFill>
        <p:spPr bwMode="auto">
          <a:xfrm>
            <a:off x="542386" y="1526875"/>
            <a:ext cx="8287460" cy="427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BEFFDE7-6CD8-4838-0E27-962735B68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887" y="2908466"/>
            <a:ext cx="7614173" cy="174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14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63A56-C2EA-D53E-401A-09D9B7DF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92B22-06A1-1E66-F114-45AF83760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46436"/>
            <a:ext cx="7886700" cy="4309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773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BAA5-E9A5-6AD7-62A6-C9A2EAA0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&amp; Modeling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BB3793-2D80-550F-1BA3-C649D6D8A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323864"/>
              </p:ext>
            </p:extLst>
          </p:nvPr>
        </p:nvGraphicFramePr>
        <p:xfrm>
          <a:off x="628650" y="1345721"/>
          <a:ext cx="8271954" cy="4911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7662">
                  <a:extLst>
                    <a:ext uri="{9D8B030D-6E8A-4147-A177-3AD203B41FA5}">
                      <a16:colId xmlns:a16="http://schemas.microsoft.com/office/drawing/2014/main" val="1409764737"/>
                    </a:ext>
                  </a:extLst>
                </a:gridCol>
                <a:gridCol w="3846679">
                  <a:extLst>
                    <a:ext uri="{9D8B030D-6E8A-4147-A177-3AD203B41FA5}">
                      <a16:colId xmlns:a16="http://schemas.microsoft.com/office/drawing/2014/main" val="779947893"/>
                    </a:ext>
                  </a:extLst>
                </a:gridCol>
                <a:gridCol w="2757613">
                  <a:extLst>
                    <a:ext uri="{9D8B030D-6E8A-4147-A177-3AD203B41FA5}">
                      <a16:colId xmlns:a16="http://schemas.microsoft.com/office/drawing/2014/main" val="2371093667"/>
                    </a:ext>
                  </a:extLst>
                </a:gridCol>
              </a:tblGrid>
              <a:tr h="1576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Model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Key Hyperparameters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Notes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2633466597"/>
                  </a:ext>
                </a:extLst>
              </a:tr>
              <a:tr h="324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Linear Regression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Default parameters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Baseline linear model without regularization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3525404807"/>
                  </a:ext>
                </a:extLst>
              </a:tr>
              <a:tr h="324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Ridge Regression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Default alpha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L2 regularization applied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3022030898"/>
                  </a:ext>
                </a:extLst>
              </a:tr>
              <a:tr h="324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Lasso Regression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Alpha tuned via GridSearchCV: [0.001, 0.01, 0.1, 1, 10]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L1 regularization with hyperparameter tuning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2749720742"/>
                  </a:ext>
                </a:extLst>
              </a:tr>
              <a:tr h="324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Elastic Net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Default parameters</a:t>
                      </a:r>
                      <a:endParaRPr lang="en-US" sz="9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Combination of L1 and L2 regularization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51396374"/>
                  </a:ext>
                </a:extLst>
              </a:tr>
              <a:tr h="6593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Support Vector Regression (SVR)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Default kernel (RBF), default C and epsilon values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No explicit hyperparameter tuning performed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3041062476"/>
                  </a:ext>
                </a:extLst>
              </a:tr>
              <a:tr h="4921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K-Nearest Neighbors (KNN)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n_neighbors=5, Minkowski distance metric (p=2)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Fixed number of neighbors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2232807483"/>
                  </a:ext>
                </a:extLst>
              </a:tr>
              <a:tr h="4921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Random Forest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n_estimators=900, max_depth=20, min_samples_split=10, bootstrap=True, random_state=42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Tuned for depth and number of trees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3050219784"/>
                  </a:ext>
                </a:extLst>
              </a:tr>
              <a:tr h="3248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Gradient Boosting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n_estimators=100, random_state=42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Default learning rate and depth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1561547475"/>
                  </a:ext>
                </a:extLst>
              </a:tr>
              <a:tr h="8265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XGBoost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learning_rate=0.1, n_estimators=200, min_child_weight=2, subsample=1, colsample_bytree=0.8, reg_lambda=0.45, reg_alpha=0, gamma=0.5, random_state=42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Tuned for regularization and tree parameters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587706097"/>
                  </a:ext>
                </a:extLst>
              </a:tr>
              <a:tr h="6593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LightGBM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Tuned via GridSearchCV: learning_rate=0.2, n_estimators=200, num_leaves=100, max_depth=-1, min_child_samples=20</a:t>
                      </a:r>
                      <a:endParaRPr lang="en-US" sz="9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Best parameters found through hyperparameter tuning</a:t>
                      </a:r>
                      <a:endParaRPr lang="en-US" sz="9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9999" marR="49999" marT="0" marB="0"/>
                </a:tc>
                <a:extLst>
                  <a:ext uri="{0D108BD9-81ED-4DB2-BD59-A6C34878D82A}">
                    <a16:rowId xmlns:a16="http://schemas.microsoft.com/office/drawing/2014/main" val="48090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32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DEE5-0EF2-4647-47AA-58F50053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1163-FC94-FB80-FCD9-1B107ACE0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Used of Google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T4 GPU for model training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R^2:</a:t>
            </a:r>
            <a:r>
              <a:rPr lang="en-US" dirty="0"/>
              <a:t> </a:t>
            </a:r>
            <a:r>
              <a:rPr lang="en-US" b="0" i="0" dirty="0">
                <a:effectLst/>
                <a:latin typeface="fkGroteskNeue"/>
              </a:rPr>
              <a:t>Measures the percentage of variance in housing prices explained by the model</a:t>
            </a:r>
          </a:p>
          <a:p>
            <a:endParaRPr lang="en-US" dirty="0"/>
          </a:p>
          <a:p>
            <a:r>
              <a:rPr lang="en-US" b="1" dirty="0"/>
              <a:t>MSE (Mean Squared Error): </a:t>
            </a:r>
            <a:r>
              <a:rPr lang="en-US" b="0" i="0" dirty="0">
                <a:effectLst/>
                <a:latin typeface="fkGroteskNeue"/>
              </a:rPr>
              <a:t>Average squared difference between predicted and actual prices</a:t>
            </a:r>
          </a:p>
        </p:txBody>
      </p:sp>
    </p:spTree>
    <p:extLst>
      <p:ext uri="{BB962C8B-B14F-4D97-AF65-F5344CB8AC3E}">
        <p14:creationId xmlns:p14="http://schemas.microsoft.com/office/powerpoint/2010/main" val="1531682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9717-E0F8-7CF3-9CE4-4CD273C4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Preliminary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171B-95E2-FEC5-C2C9-9DA2F81A3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850" y="4287328"/>
            <a:ext cx="9054150" cy="16390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Underperformers: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</a:rPr>
              <a:t>Lasso/Elastic Net (R² &lt; 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</a:rPr>
              <a:t>Linear Regression (R² ≈ 0.607)</a:t>
            </a:r>
          </a:p>
          <a:p>
            <a:r>
              <a:rPr lang="en-US" b="0" i="0" dirty="0">
                <a:effectLst/>
              </a:rPr>
              <a:t>Ensemble models outperform linear approaches.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0F784-7E00-536A-63B3-830E8EEC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35" y="1880515"/>
            <a:ext cx="7591929" cy="22169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5419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28CB-BBE0-8BE8-30A7-176DFFE1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D404-DE09-BDD9-8662-7610136EC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5097" y="1825625"/>
            <a:ext cx="4722829" cy="435133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j-lt"/>
              </a:rPr>
              <a:t>Grid Search</a:t>
            </a:r>
            <a:r>
              <a:rPr lang="en-US" dirty="0">
                <a:latin typeface="+mj-lt"/>
              </a:rPr>
              <a:t>: Exhaustively tests predefined hyperparameter combinations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(e.g., </a:t>
            </a:r>
            <a:r>
              <a:rPr lang="en-US" dirty="0" err="1">
                <a:latin typeface="+mj-lt"/>
              </a:rPr>
              <a:t>GridSearchCV</a:t>
            </a:r>
            <a:r>
              <a:rPr lang="en-US" dirty="0">
                <a:latin typeface="+mj-lt"/>
              </a:rPr>
              <a:t> in scikit-learn).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Bayesian Optimization</a:t>
            </a:r>
            <a:r>
              <a:rPr lang="en-US" dirty="0">
                <a:latin typeface="+mj-lt"/>
              </a:rPr>
              <a:t>: Efficiently explores parameter space using probabilistic models (e.g., </a:t>
            </a:r>
            <a:r>
              <a:rPr lang="en-US" dirty="0" err="1">
                <a:latin typeface="+mj-lt"/>
              </a:rPr>
              <a:t>Hyperopt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Optuna</a:t>
            </a:r>
            <a:r>
              <a:rPr lang="en-US" dirty="0">
                <a:latin typeface="+mj-lt"/>
              </a:rPr>
              <a:t>).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Automated Tools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SageMaker’s</a:t>
            </a:r>
            <a:r>
              <a:rPr lang="en-US" dirty="0">
                <a:latin typeface="+mj-lt"/>
              </a:rPr>
              <a:t> automatic tuning or libraries like ml-parameter-optimization streamline the process.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531E896-2E0F-93BE-96BE-2140DD3915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0169880"/>
              </p:ext>
            </p:extLst>
          </p:nvPr>
        </p:nvGraphicFramePr>
        <p:xfrm>
          <a:off x="5091063" y="2824866"/>
          <a:ext cx="3886199" cy="15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99">
                  <a:extLst>
                    <a:ext uri="{9D8B030D-6E8A-4147-A177-3AD203B41FA5}">
                      <a16:colId xmlns:a16="http://schemas.microsoft.com/office/drawing/2014/main" val="336739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param_grid_lightgbm</a:t>
                      </a:r>
                      <a:r>
                        <a:rPr lang="en-US" dirty="0"/>
                        <a:t> = {</a:t>
                      </a:r>
                    </a:p>
                    <a:p>
                      <a:r>
                        <a:rPr lang="en-US" dirty="0"/>
                        <a:t>  '</a:t>
                      </a:r>
                      <a:r>
                        <a:rPr lang="en-US" dirty="0" err="1"/>
                        <a:t>learning_rate</a:t>
                      </a:r>
                      <a:r>
                        <a:rPr lang="en-US" dirty="0"/>
                        <a:t>': [0.01, 0.1, 0.2],</a:t>
                      </a:r>
                    </a:p>
                    <a:p>
                      <a:r>
                        <a:rPr lang="en-US" dirty="0"/>
                        <a:t>  '</a:t>
                      </a:r>
                      <a:r>
                        <a:rPr lang="en-US" dirty="0" err="1"/>
                        <a:t>n_estimators</a:t>
                      </a:r>
                      <a:r>
                        <a:rPr lang="en-US" dirty="0"/>
                        <a:t>': [50, 100, 200],</a:t>
                      </a:r>
                    </a:p>
                    <a:p>
                      <a:r>
                        <a:rPr lang="en-US" dirty="0"/>
                        <a:t>  '</a:t>
                      </a:r>
                      <a:r>
                        <a:rPr lang="en-US" dirty="0" err="1"/>
                        <a:t>num_leaves</a:t>
                      </a:r>
                      <a:r>
                        <a:rPr lang="en-US" dirty="0"/>
                        <a:t>': [31, 50, 100],</a:t>
                      </a:r>
                    </a:p>
                    <a:p>
                      <a:r>
                        <a:rPr lang="en-US" dirty="0"/>
                        <a:t>  '</a:t>
                      </a:r>
                      <a:r>
                        <a:rPr lang="en-US" dirty="0" err="1"/>
                        <a:t>max_depth</a:t>
                      </a:r>
                      <a:r>
                        <a:rPr lang="en-US" dirty="0"/>
                        <a:t>': [-1, 5, 10],</a:t>
                      </a:r>
                    </a:p>
                    <a:p>
                      <a:r>
                        <a:rPr lang="en-US" dirty="0"/>
                        <a:t>  '</a:t>
                      </a:r>
                      <a:r>
                        <a:rPr lang="en-US" dirty="0" err="1"/>
                        <a:t>min_child_samples</a:t>
                      </a:r>
                      <a:r>
                        <a:rPr lang="en-US" dirty="0"/>
                        <a:t>': [20, 50, 100],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50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72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76A2-43EB-B869-3EEF-486A17A8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Final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1C6B87-5BE5-232A-E757-5302F05E8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25645"/>
              </p:ext>
            </p:extLst>
          </p:nvPr>
        </p:nvGraphicFramePr>
        <p:xfrm>
          <a:off x="86264" y="1423359"/>
          <a:ext cx="4428588" cy="47012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4806">
                  <a:extLst>
                    <a:ext uri="{9D8B030D-6E8A-4147-A177-3AD203B41FA5}">
                      <a16:colId xmlns:a16="http://schemas.microsoft.com/office/drawing/2014/main" val="61620099"/>
                    </a:ext>
                  </a:extLst>
                </a:gridCol>
                <a:gridCol w="1584558">
                  <a:extLst>
                    <a:ext uri="{9D8B030D-6E8A-4147-A177-3AD203B41FA5}">
                      <a16:colId xmlns:a16="http://schemas.microsoft.com/office/drawing/2014/main" val="1063076867"/>
                    </a:ext>
                  </a:extLst>
                </a:gridCol>
                <a:gridCol w="1219224">
                  <a:extLst>
                    <a:ext uri="{9D8B030D-6E8A-4147-A177-3AD203B41FA5}">
                      <a16:colId xmlns:a16="http://schemas.microsoft.com/office/drawing/2014/main" val="965903336"/>
                    </a:ext>
                  </a:extLst>
                </a:gridCol>
              </a:tblGrid>
              <a:tr h="67937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Model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Mean Squared Error (MSE)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R-squared (R²)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2894623283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LightGBM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0.0000311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0.9972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456062030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Random Forest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0.000122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0.9891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334256052"/>
                  </a:ext>
                </a:extLst>
              </a:tr>
              <a:tr h="67937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K-Nearest Neighbors (KNN)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0.000684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0.9388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749475015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Gradient Boosting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0.001572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0.8594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2134867031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XGBoost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0.001689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0.8489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3633068365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Linear Regression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0.004395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0.6068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2658422382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Ridge Regression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0.004395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0.6068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3085545916"/>
                  </a:ext>
                </a:extLst>
              </a:tr>
              <a:tr h="67937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Support Vector Regression (SVR)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0.004475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0.5997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935396172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Lasso Regression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0.011180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-0.0002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695447146"/>
                  </a:ext>
                </a:extLst>
              </a:tr>
              <a:tr h="332893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Elastic Net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0.011180</a:t>
                      </a:r>
                      <a:endParaRPr lang="en-US" sz="1000" kern="10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-0.0002</a:t>
                      </a:r>
                      <a:endParaRPr lang="en-US" sz="10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405706687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991CD93-BFF0-21D9-8912-CA76F089A7C9}"/>
              </a:ext>
            </a:extLst>
          </p:cNvPr>
          <p:cNvSpPr/>
          <p:nvPr/>
        </p:nvSpPr>
        <p:spPr>
          <a:xfrm>
            <a:off x="86264" y="2096219"/>
            <a:ext cx="4428588" cy="3257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52277E-5738-DFE7-BBB1-3A523ED55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667" y="1598330"/>
            <a:ext cx="3886200" cy="4351338"/>
          </a:xfrm>
        </p:spPr>
        <p:txBody>
          <a:bodyPr/>
          <a:lstStyle/>
          <a:p>
            <a:r>
              <a:rPr lang="en-US" b="0" i="0" dirty="0">
                <a:effectLst/>
                <a:latin typeface="+mj-lt"/>
              </a:rPr>
              <a:t>Ensemble models outperform linear approaches.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399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C769-6231-920A-131C-CE82AF02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AF2AD2-7BE3-863C-276D-DC87467CF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49044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3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BEB0-0D3B-F8AC-B69B-0DCFB08B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9BD9-C880-1E4F-D1D0-4CB31688C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Successes: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fkGroteskNeue"/>
              </a:rPr>
              <a:t>LightGBM’s</a:t>
            </a:r>
            <a:r>
              <a:rPr lang="en-US" b="0" i="0" dirty="0">
                <a:effectLst/>
                <a:latin typeface="fkGroteskNeue"/>
              </a:rPr>
              <a:t> exceptional performance.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Clear alignment between feature importance and economic intuition.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Challenges: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Categorical encoding for high-cardinality features.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Underfitting in regularized linear models.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Lessons Learned: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Hyperparameter tuning is critical for model success.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Interpretability matters as much as accuracy.</a:t>
            </a:r>
          </a:p>
        </p:txBody>
      </p:sp>
    </p:spTree>
    <p:extLst>
      <p:ext uri="{BB962C8B-B14F-4D97-AF65-F5344CB8AC3E}">
        <p14:creationId xmlns:p14="http://schemas.microsoft.com/office/powerpoint/2010/main" val="3968964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358F-A112-743B-076A-547EFED1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70" y="54577"/>
            <a:ext cx="7886700" cy="132556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417BA-224E-8011-8993-79C20655C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91" y="897148"/>
            <a:ext cx="8420459" cy="5279816"/>
          </a:xfrm>
        </p:spPr>
        <p:txBody>
          <a:bodyPr>
            <a:noAutofit/>
          </a:bodyPr>
          <a:lstStyle/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[1].  </a:t>
            </a:r>
            <a:r>
              <a:rPr lang="en-US" sz="1200" dirty="0">
                <a:latin typeface="+mj-lt"/>
              </a:rPr>
              <a:t>Duca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John V., John </a:t>
            </a:r>
            <a:r>
              <a:rPr lang="en-US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Muellbauer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and Anthony Murphy. "What drives house price cycles? International experience and policy issues." Journal of Economic Literature 59.3 (2021): 773-864.</a:t>
            </a:r>
          </a:p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[2]. Zhang, </a:t>
            </a:r>
            <a:r>
              <a:rPr lang="en-US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Qingqi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 "Housing price prediction based on multiple linear regression." Scientific Programming 2021.1 (2021): 7678931. </a:t>
            </a:r>
          </a:p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[3]. Geerts, Margot, and Jochen De </a:t>
            </a:r>
            <a:r>
              <a:rPr lang="en-US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Weerdt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 "A survey of methods and input data types for house price prediction." ISPRS International Journal of Geo-Information 12.5 (2023): 200.</a:t>
            </a:r>
          </a:p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[4]. Filipe, Ana Rita de Sousa Mateus. The Role of US Real Estate as an Inflation Hedge. </a:t>
            </a: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MS </a:t>
            </a:r>
            <a:r>
              <a:rPr lang="es-419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thesis</a:t>
            </a: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 </a:t>
            </a:r>
            <a:r>
              <a:rPr lang="es-419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Universidade</a:t>
            </a: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 NOVA de Lisboa (Portugal), 2023.</a:t>
            </a:r>
            <a:endParaRPr lang="en-US" sz="1200" dirty="0">
              <a:effectLst/>
              <a:latin typeface="+mj-lt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[5]. </a:t>
            </a:r>
            <a:r>
              <a:rPr lang="es-419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Truong</a:t>
            </a: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</a:t>
            </a:r>
            <a:r>
              <a:rPr lang="es-419" sz="1200" dirty="0" err="1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Quang</a:t>
            </a:r>
            <a:r>
              <a:rPr lang="es-419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, et al. 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"Housing price prediction via improved machine learning techniques." Procedia Computer Science 174 (2020): 433-442.</a:t>
            </a:r>
          </a:p>
          <a:p>
            <a:pPr marL="0" marR="0" indent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[6]. Federal Housing Finance Agency. </a:t>
            </a:r>
            <a:r>
              <a:rPr lang="en-US" sz="1200" i="1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FHFA House Price Index® Datasets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 FHFA, 2025, </a:t>
            </a:r>
            <a:r>
              <a:rPr lang="en-US" sz="1200" u="sng" dirty="0">
                <a:solidFill>
                  <a:srgbClr val="467886"/>
                </a:solidFill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  <a:hlinkClick r:id="rId2"/>
              </a:rPr>
              <a:t>https://www.fhfa.gov/data/hpi/datasets</a:t>
            </a:r>
            <a:r>
              <a:rPr lang="en-US" sz="1200" dirty="0">
                <a:effectLst/>
                <a:latin typeface="+mj-lt"/>
                <a:ea typeface="Yu Gothic" panose="020B0400000000000000" pitchFamily="34" charset="-128"/>
                <a:cs typeface="Times New Roman" panose="02020603050405020304" pitchFamily="18" charset="0"/>
              </a:rPr>
              <a:t>. Accessed 29 Apr. 2025.</a:t>
            </a:r>
          </a:p>
        </p:txBody>
      </p:sp>
    </p:spTree>
    <p:extLst>
      <p:ext uri="{BB962C8B-B14F-4D97-AF65-F5344CB8AC3E}">
        <p14:creationId xmlns:p14="http://schemas.microsoft.com/office/powerpoint/2010/main" val="463728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9097-C945-5443-BF5D-D099CAFDB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fkGroteskNeue"/>
              </a:rPr>
              <a:t>Thanks for your attention!​</a:t>
            </a:r>
            <a:br>
              <a:rPr lang="en-US" dirty="0">
                <a:latin typeface="fkGroteskNeue"/>
              </a:rPr>
            </a:br>
            <a:r>
              <a:rPr lang="en-US" dirty="0">
                <a:latin typeface="fkGroteskNeue"/>
              </a:rPr>
              <a:t>Do you have any questions?​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8A9A6-9347-DFC0-CC78-8A5962FA3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 rtl="0" fontAlgn="base">
              <a:lnSpc>
                <a:spcPts val="1200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Contact: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lnSpc>
                <a:spcPts val="1200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Jonathan Jose Penaloza Rumie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lnSpc>
                <a:spcPts val="1200"/>
              </a:lnSpc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Emails: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lnSpc>
                <a:spcPts val="1200"/>
              </a:lnSpc>
              <a:buNone/>
            </a:pPr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hlinkClick r:id="rId2"/>
              </a:rPr>
              <a:t>jpenaloza@bellarmine.edu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lnSpc>
                <a:spcPts val="1200"/>
              </a:lnSpc>
              <a:buNone/>
            </a:pPr>
            <a:r>
              <a:rPr lang="en-US" sz="1800" b="0" i="0" u="sng" strike="noStrike" dirty="0">
                <a:solidFill>
                  <a:srgbClr val="0563C1"/>
                </a:solidFill>
                <a:effectLst/>
                <a:latin typeface="Arial" panose="020B0604020202020204" pitchFamily="34" charset="0"/>
                <a:hlinkClick r:id="rId3"/>
              </a:rPr>
              <a:t>jjpenaloza1@outlook.com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04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1124</Words>
  <Application>Microsoft Office PowerPoint</Application>
  <PresentationFormat>On-screen Show (4:3)</PresentationFormat>
  <Paragraphs>162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fkGroteskNeue</vt:lpstr>
      <vt:lpstr>Aptos</vt:lpstr>
      <vt:lpstr>Arial</vt:lpstr>
      <vt:lpstr>Segoe UI</vt:lpstr>
      <vt:lpstr>Office Theme</vt:lpstr>
      <vt:lpstr>Comparative Analysis of Machine Learning Models for Housing Price Index Prediction</vt:lpstr>
      <vt:lpstr>Outline</vt:lpstr>
      <vt:lpstr>Project Overview</vt:lpstr>
      <vt:lpstr>What is Index NSA</vt:lpstr>
      <vt:lpstr>Preprocess</vt:lpstr>
      <vt:lpstr>Exploratory Data Analysis</vt:lpstr>
      <vt:lpstr>Distribution of Index NSA by Region</vt:lpstr>
      <vt:lpstr>Distribution of Index NSA by Region  </vt:lpstr>
      <vt:lpstr>Feature Importance</vt:lpstr>
      <vt:lpstr>Correlation and Regional Trends</vt:lpstr>
      <vt:lpstr>Trend of index NSA over time</vt:lpstr>
      <vt:lpstr>Distribution analysis</vt:lpstr>
      <vt:lpstr>Methods &amp; Modeling</vt:lpstr>
      <vt:lpstr>Evaluation Metrics</vt:lpstr>
      <vt:lpstr>Preliminary results</vt:lpstr>
      <vt:lpstr>Hyperparameter Tuning</vt:lpstr>
      <vt:lpstr> Final Results</vt:lpstr>
      <vt:lpstr>Future Work</vt:lpstr>
      <vt:lpstr>Reflection</vt:lpstr>
      <vt:lpstr>References</vt:lpstr>
      <vt:lpstr>Thanks for your attention!​ Do you have any questions?​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Jonathan J. Penaloza Rumie</cp:lastModifiedBy>
  <cp:revision>10</cp:revision>
  <dcterms:created xsi:type="dcterms:W3CDTF">2020-08-18T15:08:12Z</dcterms:created>
  <dcterms:modified xsi:type="dcterms:W3CDTF">2025-04-29T15:32:45Z</dcterms:modified>
</cp:coreProperties>
</file>